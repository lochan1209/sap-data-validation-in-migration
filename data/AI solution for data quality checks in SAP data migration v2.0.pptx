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6" r:id="rId3"/>
    <p:sldId id="261" r:id="rId4"/>
    <p:sldId id="262" r:id="rId5"/>
    <p:sldId id="257" r:id="rId6"/>
    <p:sldId id="258" r:id="rId7"/>
    <p:sldId id="259" r:id="rId8"/>
    <p:sldId id="260" r:id="rId9"/>
    <p:sldId id="268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6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EBBEFF-9CD7-4C6E-9235-6EC5A3F20E8C}" v="1" dt="2025-11-19T08:56:29.482"/>
  </p1510:revLst>
</p1510:revInfo>
</file>

<file path=ppt/tableStyles.xml><?xml version="1.0" encoding="utf-8"?>
<a:tblStyleLst xmlns:a="http://schemas.openxmlformats.org/drawingml/2006/main" def="{5C22544A-7EE6-4342-B048-85BDC9FD1C3A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205" autoAdjust="0"/>
    <p:restoredTop sz="94660"/>
  </p:normalViewPr>
  <p:slideViewPr>
    <p:cSldViewPr snapToGrid="0">
      <p:cViewPr>
        <p:scale>
          <a:sx n="56" d="100"/>
          <a:sy n="56" d="100"/>
        </p:scale>
        <p:origin x="792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raman, Lochan" userId="35d35d38-f397-4c93-9141-b9d9e9f1fd68" providerId="ADAL" clId="{EF29F194-44DA-41A0-8426-8F987FF6263B}"/>
    <pc:docChg chg="addSld modSld">
      <pc:chgData name="Hiraman, Lochan" userId="35d35d38-f397-4c93-9141-b9d9e9f1fd68" providerId="ADAL" clId="{EF29F194-44DA-41A0-8426-8F987FF6263B}" dt="2025-11-19T09:11:29.277" v="42" actId="14100"/>
      <pc:docMkLst>
        <pc:docMk/>
      </pc:docMkLst>
      <pc:sldChg chg="addSp modSp new mod">
        <pc:chgData name="Hiraman, Lochan" userId="35d35d38-f397-4c93-9141-b9d9e9f1fd68" providerId="ADAL" clId="{EF29F194-44DA-41A0-8426-8F987FF6263B}" dt="2025-11-19T09:11:29.277" v="42" actId="14100"/>
        <pc:sldMkLst>
          <pc:docMk/>
          <pc:sldMk cId="1396616041" sldId="272"/>
        </pc:sldMkLst>
        <pc:spChg chg="add mod">
          <ac:chgData name="Hiraman, Lochan" userId="35d35d38-f397-4c93-9141-b9d9e9f1fd68" providerId="ADAL" clId="{EF29F194-44DA-41A0-8426-8F987FF6263B}" dt="2025-11-19T09:11:24.287" v="41" actId="1076"/>
          <ac:spMkLst>
            <pc:docMk/>
            <pc:sldMk cId="1396616041" sldId="272"/>
            <ac:spMk id="2" creationId="{30FA6D0E-2F5A-E28B-8E89-D18AA350FEB2}"/>
          </ac:spMkLst>
        </pc:spChg>
        <pc:picChg chg="add mod modCrop">
          <ac:chgData name="Hiraman, Lochan" userId="35d35d38-f397-4c93-9141-b9d9e9f1fd68" providerId="ADAL" clId="{EF29F194-44DA-41A0-8426-8F987FF6263B}" dt="2025-11-19T09:11:29.277" v="42" actId="14100"/>
          <ac:picMkLst>
            <pc:docMk/>
            <pc:sldMk cId="1396616041" sldId="272"/>
            <ac:picMk id="4" creationId="{6DC9C396-035D-3354-C4E4-4C43F36A0C2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63205-9676-5FC1-0F3A-0004C7577B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CFD5F3-CC89-012E-6978-C248B2B8AD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916533-7BF7-1D99-E1B7-A5BC7D73F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100A5-167C-46E4-94A3-AB56977DF3BE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DD5DF8-6D1D-7D65-4ADC-F6EE0407E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2817A-059D-8572-C2D5-5EC8A5ED2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7BAD-D488-4B64-A1A3-77B8653D3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826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5B454-D358-5600-AE30-076C95829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71FE0-41CD-E221-D191-6ED187920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7A7C85-9974-E038-AC63-B1B7ED0AF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100A5-167C-46E4-94A3-AB56977DF3BE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CF7DD5-F1AA-C48B-39EB-935EA47C5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3F813F-16AC-024C-79EB-B59141F6A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7BAD-D488-4B64-A1A3-77B8653D3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394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76949-C969-4622-34C9-436DD67F0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223D6C-1314-2DB8-F691-D4950A84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25584-7D9C-E0AB-DFCB-B01BD3371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100A5-167C-46E4-94A3-AB56977DF3BE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F505CF-C193-ECA8-5D50-51ECF316F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DC8F0E-441F-3F56-BDD2-4463DAD3D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7BAD-D488-4B64-A1A3-77B8653D3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261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BF8C6-693C-D677-3896-1CD7618F8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1792C-8A28-9473-EEDE-DBDC778E96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872984-7D02-1F0A-3A57-1795127E31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7645A6-D50A-14BA-348C-F47587256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100A5-167C-46E4-94A3-AB56977DF3BE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1995-6949-98B9-A67D-6D4C1140E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3CF357-A593-303C-FD31-A4FC25E3D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7BAD-D488-4B64-A1A3-77B8653D3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204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0319D-5226-61B7-9C85-0587441E1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3A0D7F-A802-856F-C3B7-1B6ADF206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65B3ED-0C81-2239-AB2D-B89E2453B0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39BC8C-70FD-5C3F-4FBC-2B44D60715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0682BC-4147-0838-9452-401C3D306F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2040CB-2E5D-B790-AB9D-8AFFFDE82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100A5-167C-46E4-94A3-AB56977DF3BE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583C19-A529-DA14-F095-66C73FB0F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BFC4B5-DDD1-0131-A281-0495439B5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7BAD-D488-4B64-A1A3-77B8653D3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727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4F136-4822-161E-5894-A6DD898B4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0FF513-23F4-6714-73DB-B075EE669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100A5-167C-46E4-94A3-AB56977DF3BE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4CA414-FCF2-8BA0-E959-DDD2D23E2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A9E863-A0C6-3842-6D2D-F8440166B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7BAD-D488-4B64-A1A3-77B8653D3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489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129756-F176-6FD4-0456-132FB7626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100A5-167C-46E4-94A3-AB56977DF3BE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F8ECA6-2C55-AEEE-8EA0-3363FF1DD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6CD60C-E8CE-3CDF-EF57-0432F0616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7BAD-D488-4B64-A1A3-77B8653D3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833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E8E0-CD75-A275-CEE0-6B2DBA8D5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F7D97-3212-6707-C50D-B549A9C6A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6AC226-A370-AB69-548B-015489E1D5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2E105B-C48A-ECC2-B46C-928DB26D8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100A5-167C-46E4-94A3-AB56977DF3BE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0F54A4-A3E2-EEB3-6BF3-7FD3DC54F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D6B185-A335-ABA1-8C33-EFAD50FE4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7BAD-D488-4B64-A1A3-77B8653D3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577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F8A1F-8EDD-0FA1-78CC-034AC1FDE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9DEDCE-8AB1-2C96-18BE-DAB6B886BE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5715AF-130A-4929-3525-474CA3DFA4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AC044E-522B-695C-8E86-C656BF5E6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100A5-167C-46E4-94A3-AB56977DF3BE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D1991E-CFEF-0986-9E67-FE6B61E4F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59BCFF-E95E-6F2D-F9C2-1B8005064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7BAD-D488-4B64-A1A3-77B8653D3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422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B104A-7081-188C-1CAF-C339A36D8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8E7460-2159-91E7-C297-4EBE77B008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D19E3-D882-369A-190F-AE8A610E1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100A5-167C-46E4-94A3-AB56977DF3BE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87115-3398-04D4-CE1E-C779DB1ED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ECFBE5-F9F3-4A88-8D43-E1DA82F94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7BAD-D488-4B64-A1A3-77B8653D3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586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6BD535-ECA6-FDD5-0D41-067F9CD9B3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F1204D-A17A-CDF4-4865-743E8FC9B8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2ED5E-0146-BBFF-770B-2106AB93D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100A5-167C-46E4-94A3-AB56977DF3BE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87BA50-62F0-CEF4-C7A7-5C226D14D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B4CB1-B131-DFA3-9496-A96A07C67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7BAD-D488-4B64-A1A3-77B8653D3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880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7F7113-CF32-BF61-9BE1-2FF994BB4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5B679D-6E5F-703F-39D3-E4B4DE944C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29DAAB-BE4D-432C-BEA1-369682E460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7100A5-167C-46E4-94A3-AB56977DF3BE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3C2324-12E2-3F54-7FCD-E0C1724EA8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BF78A3-8B3D-3C9B-4ECF-F3CD83CE18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9D7BAD-D488-4B64-A1A3-77B8653D3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084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5D49B-415F-7C15-3B00-962FE7737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37B54-E342-8821-86E7-CFEAC8AA6A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8943" y="1817914"/>
            <a:ext cx="9144000" cy="1936523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SAP Data migration</a:t>
            </a:r>
            <a:br>
              <a:rPr lang="en-US" sz="3600" b="1" dirty="0"/>
            </a:br>
            <a:br>
              <a:rPr lang="en-US" sz="3600" b="1" dirty="0"/>
            </a:br>
            <a:r>
              <a:rPr lang="en-US" sz="3600" b="1" dirty="0"/>
              <a:t>AI solution to check data quality</a:t>
            </a:r>
            <a:br>
              <a:rPr lang="en-US" sz="3600" b="1" dirty="0"/>
            </a:b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764311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46475-ADFC-2B6B-1EE2-B005B566A3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9" y="664029"/>
            <a:ext cx="9144000" cy="673779"/>
          </a:xfrm>
        </p:spPr>
        <p:txBody>
          <a:bodyPr>
            <a:normAutofit/>
          </a:bodyPr>
          <a:lstStyle/>
          <a:p>
            <a:r>
              <a:rPr lang="en-US" sz="3600" b="1" dirty="0"/>
              <a:t>📌  </a:t>
            </a:r>
            <a:r>
              <a:rPr lang="en-US" sz="3600" dirty="0"/>
              <a:t>Context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DA80E6-8FD5-66C0-BF5A-5CDA111357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6285" y="2133600"/>
            <a:ext cx="9144000" cy="5638800"/>
          </a:xfrm>
        </p:spPr>
        <p:txBody>
          <a:bodyPr>
            <a:normAutofit/>
          </a:bodyPr>
          <a:lstStyle/>
          <a:p>
            <a:pPr algn="l"/>
            <a:endParaRPr lang="en-US" sz="1300" b="1" dirty="0"/>
          </a:p>
          <a:p>
            <a:pPr algn="l"/>
            <a:r>
              <a:rPr lang="en-US" sz="1800" dirty="0"/>
              <a:t>During data migration from SAP to a new system, the receiving APIs (Kraken APIs) enforce strict data quality checks and raise </a:t>
            </a:r>
            <a:r>
              <a:rPr lang="en-US" sz="1800" b="1" dirty="0"/>
              <a:t>exceptions</a:t>
            </a:r>
            <a:r>
              <a:rPr lang="en-US" sz="1800" dirty="0"/>
              <a:t> for bad or incomplete data, such as:</a:t>
            </a:r>
          </a:p>
          <a:p>
            <a:pPr algn="l"/>
            <a:r>
              <a:rPr lang="en-US" sz="1800" dirty="0"/>
              <a:t>Invalid mobile numbers</a:t>
            </a:r>
          </a:p>
          <a:p>
            <a:pPr algn="l"/>
            <a:r>
              <a:rPr lang="en-US" sz="1800" dirty="0"/>
              <a:t>Improper email formats</a:t>
            </a:r>
          </a:p>
          <a:p>
            <a:pPr algn="l"/>
            <a:r>
              <a:rPr lang="en-US" sz="1800" dirty="0"/>
              <a:t>Names with special characters or digits</a:t>
            </a:r>
          </a:p>
          <a:p>
            <a:pPr algn="l"/>
            <a:r>
              <a:rPr lang="en-US" sz="1800" dirty="0"/>
              <a:t>Blank required fields</a:t>
            </a:r>
          </a:p>
          <a:p>
            <a:pPr algn="l"/>
            <a:endParaRPr lang="en-US" sz="1100" dirty="0"/>
          </a:p>
          <a:p>
            <a:pPr algn="l"/>
            <a:endParaRPr lang="en-US" sz="1100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868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53532-00F7-FE3B-8D9A-EE4713E37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6FA34-465C-9EEE-637D-78C8B67165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1629" y="555171"/>
            <a:ext cx="9144000" cy="673779"/>
          </a:xfrm>
        </p:spPr>
        <p:txBody>
          <a:bodyPr>
            <a:normAutofit/>
          </a:bodyPr>
          <a:lstStyle/>
          <a:p>
            <a:r>
              <a:rPr lang="en-US" sz="3600" b="1" dirty="0"/>
              <a:t>❗  </a:t>
            </a:r>
            <a:r>
              <a:rPr lang="en-US" sz="3600" dirty="0"/>
              <a:t>Problem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794CA0-581E-F836-B09F-7733EB7CFE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8057" y="1817914"/>
            <a:ext cx="9144000" cy="5638800"/>
          </a:xfrm>
        </p:spPr>
        <p:txBody>
          <a:bodyPr>
            <a:normAutofit/>
          </a:bodyPr>
          <a:lstStyle/>
          <a:p>
            <a:pPr algn="l"/>
            <a:endParaRPr lang="en-US" sz="1300" dirty="0"/>
          </a:p>
          <a:p>
            <a:pPr algn="l"/>
            <a:endParaRPr lang="en-US" sz="1300" b="1" dirty="0"/>
          </a:p>
          <a:p>
            <a:pPr algn="l"/>
            <a:r>
              <a:rPr lang="en-US" sz="1800" dirty="0"/>
              <a:t>Manually identifying and fixing these issues </a:t>
            </a:r>
            <a:r>
              <a:rPr lang="en-US" sz="1800" b="1" dirty="0"/>
              <a:t>after API rejection</a:t>
            </a:r>
            <a:r>
              <a:rPr lang="en-US" sz="1800" dirty="0"/>
              <a:t> causes:</a:t>
            </a:r>
          </a:p>
          <a:p>
            <a:pPr algn="l"/>
            <a:r>
              <a:rPr lang="en-US" sz="1800" dirty="0"/>
              <a:t>⏱️ Delays in the migration process</a:t>
            </a:r>
          </a:p>
          <a:p>
            <a:pPr algn="l"/>
            <a:r>
              <a:rPr lang="en-US" sz="1800" dirty="0"/>
              <a:t>🔁 Rework cycles between source and validation teams</a:t>
            </a:r>
          </a:p>
          <a:p>
            <a:pPr algn="l"/>
            <a:r>
              <a:rPr lang="en-US" sz="1800" dirty="0"/>
              <a:t>📉 Poor migration success rates</a:t>
            </a:r>
          </a:p>
          <a:p>
            <a:pPr algn="l"/>
            <a:r>
              <a:rPr lang="en-US" sz="1800" dirty="0"/>
              <a:t>🚫 Bottlenecks in downstream automation</a:t>
            </a:r>
          </a:p>
          <a:p>
            <a:pPr algn="l"/>
            <a:endParaRPr lang="en-US" sz="1300" dirty="0"/>
          </a:p>
          <a:p>
            <a:pPr algn="l"/>
            <a:endParaRPr lang="en-US" sz="1100" dirty="0"/>
          </a:p>
          <a:p>
            <a:pPr algn="l"/>
            <a:endParaRPr lang="en-US" sz="1100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3858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7B304-1367-1741-0961-EA285213F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CFABA-761B-C9C5-598D-52C63DC009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2886" y="413657"/>
            <a:ext cx="9144000" cy="673779"/>
          </a:xfrm>
        </p:spPr>
        <p:txBody>
          <a:bodyPr>
            <a:normAutofit/>
          </a:bodyPr>
          <a:lstStyle/>
          <a:p>
            <a:r>
              <a:rPr lang="en-US" sz="3600" dirty="0"/>
              <a:t>Objective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6D1D26-395B-E556-5B6C-F2193F2113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5000" y="1447801"/>
            <a:ext cx="9144000" cy="5638800"/>
          </a:xfrm>
        </p:spPr>
        <p:txBody>
          <a:bodyPr>
            <a:normAutofit/>
          </a:bodyPr>
          <a:lstStyle/>
          <a:p>
            <a:pPr algn="l"/>
            <a:endParaRPr lang="en-US" sz="1300" dirty="0"/>
          </a:p>
          <a:p>
            <a:pPr algn="l"/>
            <a:endParaRPr lang="en-US" sz="1800" b="1" dirty="0"/>
          </a:p>
          <a:p>
            <a:pPr algn="l"/>
            <a:r>
              <a:rPr lang="en-US" sz="1800" dirty="0"/>
              <a:t>To build a </a:t>
            </a:r>
            <a:r>
              <a:rPr lang="en-US" sz="1800" b="1" dirty="0"/>
              <a:t>predictive and proactive validation mechanism</a:t>
            </a:r>
            <a:r>
              <a:rPr lang="en-US" sz="1800" dirty="0"/>
              <a:t> that:</a:t>
            </a:r>
          </a:p>
          <a:p>
            <a:pPr algn="l"/>
            <a:r>
              <a:rPr lang="en-US" sz="1800" dirty="0"/>
              <a:t>🚨 Flags potential data quality issues </a:t>
            </a:r>
            <a:r>
              <a:rPr lang="en-US" sz="1800" b="1" dirty="0"/>
              <a:t>before API calls</a:t>
            </a:r>
            <a:endParaRPr lang="en-US" sz="1800" dirty="0"/>
          </a:p>
          <a:p>
            <a:pPr algn="l"/>
            <a:r>
              <a:rPr lang="en-US" sz="1800" dirty="0"/>
              <a:t>📈 Reduces failure rates and manual intervention</a:t>
            </a:r>
          </a:p>
          <a:p>
            <a:pPr algn="l"/>
            <a:r>
              <a:rPr lang="en-US" sz="1800" dirty="0"/>
              <a:t>🧠 Uses scalable techniques like </a:t>
            </a:r>
            <a:r>
              <a:rPr lang="en-US" sz="1800" b="1" dirty="0"/>
              <a:t>rules, ML, and LLMs</a:t>
            </a:r>
            <a:endParaRPr lang="en-US" sz="1800" dirty="0"/>
          </a:p>
          <a:p>
            <a:pPr algn="l"/>
            <a:r>
              <a:rPr lang="en-US" sz="1800" dirty="0"/>
              <a:t>🔄 Learns and adapts as more data becomes available</a:t>
            </a:r>
          </a:p>
          <a:p>
            <a:pPr algn="l"/>
            <a:endParaRPr lang="en-US" sz="1100" dirty="0"/>
          </a:p>
          <a:p>
            <a:pPr algn="l"/>
            <a:endParaRPr lang="en-US" sz="1100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8485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851D7-5062-26E0-BB1E-0310FB782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A046F-3A8F-BE83-90D6-EBBC7551A8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343" y="359229"/>
            <a:ext cx="9144000" cy="1206116"/>
          </a:xfrm>
        </p:spPr>
        <p:txBody>
          <a:bodyPr>
            <a:normAutofit/>
          </a:bodyPr>
          <a:lstStyle/>
          <a:p>
            <a:r>
              <a:rPr lang="en-US" sz="3600" dirty="0"/>
              <a:t>Approach 1: 📘 </a:t>
            </a:r>
            <a:r>
              <a:rPr lang="en-US" sz="3600" b="1" dirty="0"/>
              <a:t>Rule-Based Engine (Deterministic)</a:t>
            </a:r>
            <a:endParaRPr lang="en-US" sz="3600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D18479C2-9E19-4CE8-384D-CD47F2DC425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273628" y="1998139"/>
            <a:ext cx="9808029" cy="3277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Approach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Implement a lightweight Python-based engine that uses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predefined rules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detect data quality issues (e.g., blank fields, invalid mobile numbers,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 improper email formats) directly from the Excel input file.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Easy to set up, understand, and maintain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🛠 Rules: Mobile = 11 digits, email format check, no blanks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📂 Automatically </a:t>
            </a:r>
            <a:r>
              <a:rPr lang="en-US" altLang="en-US" sz="1800" dirty="0">
                <a:latin typeface="Arial" panose="020B0604020202020204" pitchFamily="34" charset="0"/>
              </a:rPr>
              <a:t>updates the EXCEPTION column in excel file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2829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87FC7-540B-4B96-20A5-8AB3FF56B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81578-399A-93B4-A012-FBD57DC5FF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3886" y="359229"/>
            <a:ext cx="9144000" cy="1066800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Approach 2: 🤖 </a:t>
            </a:r>
            <a:r>
              <a:rPr lang="en-US" sz="3600" b="1" dirty="0"/>
              <a:t>Machine Learning Classifier (Supervised Learning)</a:t>
            </a:r>
            <a:endParaRPr lang="en-US" sz="36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CF92B7C-588B-CA18-7859-11BEC3A1019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53886" y="1889608"/>
            <a:ext cx="9698944" cy="3277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Approach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 baseline ML model (Random Forest / SGD Classifier) was trained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historical SAP records with exception labels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learn data quality patterns and predict exceptions on new records.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🧠 Learns from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labeled exception data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🔍 Predicts probable exception types before calling Kraken APIs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📉 Improves over time as more data is added (retraining or online learning)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5814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FE91E-C89F-CE17-2420-F8B1672B5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C72F8-A3B0-262C-1A22-99F5EFC21F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3886" y="359229"/>
            <a:ext cx="9144000" cy="1066800"/>
          </a:xfrm>
        </p:spPr>
        <p:txBody>
          <a:bodyPr>
            <a:normAutofit/>
          </a:bodyPr>
          <a:lstStyle/>
          <a:p>
            <a:r>
              <a:rPr lang="en-US" sz="3600" dirty="0"/>
              <a:t>Approach 3: 🧠 LLM-Based Validation (</a:t>
            </a:r>
            <a:r>
              <a:rPr lang="en-US" sz="3600" dirty="0" err="1"/>
              <a:t>Groq</a:t>
            </a:r>
            <a:r>
              <a:rPr lang="en-US" sz="3600"/>
              <a:t>)</a:t>
            </a:r>
            <a:endParaRPr lang="en-US" sz="3600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16B080C7-99C0-0AD6-F790-DA07ED32B80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53886" y="2389341"/>
            <a:ext cx="98298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b="1" dirty="0">
                <a:latin typeface="Arial" panose="020B0604020202020204" pitchFamily="34" charset="0"/>
              </a:rPr>
              <a:t>Approach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 a large language model to validate customer data dynamically without hardcoding rules.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b="1" dirty="0">
              <a:latin typeface="Arial" panose="020B0604020202020204" pitchFamily="34" charset="0"/>
            </a:endParaRP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Arial" panose="020B0604020202020204" pitchFamily="34" charset="0"/>
              </a:rPr>
              <a:t>🔹 How it works: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285750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Cleaned customer data is passed row-by-row into an LLM (</a:t>
            </a:r>
            <a:r>
              <a:rPr lang="en-US" altLang="en-US" sz="1800" dirty="0" err="1">
                <a:latin typeface="Arial" panose="020B0604020202020204" pitchFamily="34" charset="0"/>
              </a:rPr>
              <a:t>Groq</a:t>
            </a:r>
            <a:r>
              <a:rPr lang="en-US" altLang="en-US" sz="1800" dirty="0">
                <a:latin typeface="Arial" panose="020B0604020202020204" pitchFamily="34" charset="0"/>
              </a:rPr>
              <a:t>)</a:t>
            </a:r>
          </a:p>
          <a:p>
            <a:pPr marL="285750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LLM uses a prompt containing all validation rules</a:t>
            </a:r>
          </a:p>
          <a:p>
            <a:pPr marL="285750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It returns a structured result: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Arial" panose="020B0604020202020204" pitchFamily="34" charset="0"/>
              </a:rPr>
              <a:t>	"VALID"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Arial" panose="020B0604020202020204" pitchFamily="34" charset="0"/>
              </a:rPr>
              <a:t>	or errors like "LAST_NAME_BLANK, INVALID_EMAIL_FORMAT"</a:t>
            </a:r>
          </a:p>
          <a:p>
            <a:pPr marL="285750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Result is saved back into Excel under an EXCEPTION column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40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B7212-7393-2CB7-0D55-A103FE9B1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4DF70-F952-A3B0-9A33-638B9EDAA0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3257" y="0"/>
            <a:ext cx="9144000" cy="673779"/>
          </a:xfrm>
        </p:spPr>
        <p:txBody>
          <a:bodyPr>
            <a:normAutofit/>
          </a:bodyPr>
          <a:lstStyle/>
          <a:p>
            <a:r>
              <a:rPr lang="en-US" sz="3600"/>
              <a:t>Comparison</a:t>
            </a:r>
            <a:endParaRPr lang="en-US" sz="36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55C8A7E-7088-3D3D-D30C-BA9C55EE57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6217730"/>
              </p:ext>
            </p:extLst>
          </p:nvPr>
        </p:nvGraphicFramePr>
        <p:xfrm>
          <a:off x="1643743" y="816429"/>
          <a:ext cx="9252856" cy="5410200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2313214">
                  <a:extLst>
                    <a:ext uri="{9D8B030D-6E8A-4147-A177-3AD203B41FA5}">
                      <a16:colId xmlns:a16="http://schemas.microsoft.com/office/drawing/2014/main" val="2596291275"/>
                    </a:ext>
                  </a:extLst>
                </a:gridCol>
                <a:gridCol w="2313214">
                  <a:extLst>
                    <a:ext uri="{9D8B030D-6E8A-4147-A177-3AD203B41FA5}">
                      <a16:colId xmlns:a16="http://schemas.microsoft.com/office/drawing/2014/main" val="1370486245"/>
                    </a:ext>
                  </a:extLst>
                </a:gridCol>
                <a:gridCol w="2313214">
                  <a:extLst>
                    <a:ext uri="{9D8B030D-6E8A-4147-A177-3AD203B41FA5}">
                      <a16:colId xmlns:a16="http://schemas.microsoft.com/office/drawing/2014/main" val="3351518045"/>
                    </a:ext>
                  </a:extLst>
                </a:gridCol>
                <a:gridCol w="2313214">
                  <a:extLst>
                    <a:ext uri="{9D8B030D-6E8A-4147-A177-3AD203B41FA5}">
                      <a16:colId xmlns:a16="http://schemas.microsoft.com/office/drawing/2014/main" val="1886129215"/>
                    </a:ext>
                  </a:extLst>
                </a:gridCol>
              </a:tblGrid>
              <a:tr h="541020">
                <a:tc>
                  <a:txBody>
                    <a:bodyPr/>
                    <a:lstStyle/>
                    <a:p>
                      <a:r>
                        <a:rPr lang="en-US" sz="1300" b="1" dirty="0"/>
                        <a:t>Feature / Approach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n-US" sz="1300" b="1" dirty="0"/>
                        <a:t>Rule-Based Engine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n-US" sz="1300" b="1"/>
                        <a:t>ML Classifier Model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n-US" sz="1300" b="1" dirty="0"/>
                        <a:t>LLM-Based (Qwen/</a:t>
                      </a:r>
                      <a:r>
                        <a:rPr lang="en-US" sz="1300" b="1" dirty="0" err="1"/>
                        <a:t>Groq</a:t>
                      </a:r>
                      <a:r>
                        <a:rPr lang="en-US" sz="1300" b="1" dirty="0"/>
                        <a:t>)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2995310416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rPr lang="en-US" sz="1300" b="1" dirty="0"/>
                        <a:t>Setup Complexity</a:t>
                      </a:r>
                      <a:endParaRPr lang="en-US" sz="1300" dirty="0"/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✅ Simple if rules are clear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⚠️ Medium (feature engineering, labels)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⚠️ Easy logic via prompt, needs tuning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1931924511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rPr lang="en-US" sz="1300" b="1"/>
                        <a:t>Adaptability to Change</a:t>
                      </a:r>
                      <a:endParaRPr lang="en-US" sz="1300"/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❌ Manual updates to code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⚠️ Needs retraining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✅ Just update the prompt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1882961775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rPr lang="en-US" sz="1300" b="1" dirty="0"/>
                        <a:t>Scalability</a:t>
                      </a:r>
                      <a:endParaRPr lang="en-US" sz="1300" dirty="0"/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⚠️ Harder with many rules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✅ Scales with data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✅ Scales well via prompt logic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1072037754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rPr lang="en-US" sz="1300" b="1"/>
                        <a:t>Accuracy (Structured)</a:t>
                      </a:r>
                      <a:endParaRPr lang="en-US" sz="1300"/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✅ High if rules are exact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✅ Good after training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✅ High for defined prompts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972908287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rPr lang="en-US" sz="1300" b="1"/>
                        <a:t>Explainability</a:t>
                      </a:r>
                      <a:endParaRPr lang="en-US" sz="1300"/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✅ Very clear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⚠️ Medium (model insight)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✅ Clear, with language-based errors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1168478889"/>
                  </a:ext>
                </a:extLst>
              </a:tr>
              <a:tr h="308605">
                <a:tc>
                  <a:txBody>
                    <a:bodyPr/>
                    <a:lstStyle/>
                    <a:p>
                      <a:r>
                        <a:rPr lang="en-US" sz="1300" b="1"/>
                        <a:t>Real-time Prediction</a:t>
                      </a:r>
                      <a:endParaRPr lang="en-US" sz="1300"/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✅ Yes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✅ Yes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⚠️ Slightly slower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3013838768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rPr lang="en-US" sz="1300" b="1"/>
                        <a:t>Maintenance</a:t>
                      </a:r>
                      <a:endParaRPr lang="en-US" sz="1300"/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⚠️ Frequent code changes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⚠️ Retraining needed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✅ Prompt-only changes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3287223076"/>
                  </a:ext>
                </a:extLst>
              </a:tr>
              <a:tr h="773435">
                <a:tc>
                  <a:txBody>
                    <a:bodyPr/>
                    <a:lstStyle/>
                    <a:p>
                      <a:r>
                        <a:rPr lang="en-US" sz="1300" b="1"/>
                        <a:t>Cost</a:t>
                      </a:r>
                      <a:endParaRPr lang="en-US" sz="1300"/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✅ Very low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⚠️ Moderate (compute for training)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⚠️ Free for now (Qwen), but LLM tokens may cost later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1575543664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rPr lang="en-US" sz="1300" b="1"/>
                        <a:t>TCO (Total Cost of Ownership)</a:t>
                      </a:r>
                      <a:endParaRPr lang="en-US" sz="1300"/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✅ Lowest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⚠️ Medium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⚠️ Low today; may increase with scale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24640859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8605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32789-53E3-6444-B9A4-9AC34B4C4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1F663-4532-EBB3-DD2A-557C48A5D6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3257" y="423796"/>
            <a:ext cx="9144000" cy="673779"/>
          </a:xfrm>
        </p:spPr>
        <p:txBody>
          <a:bodyPr>
            <a:normAutofit/>
          </a:bodyPr>
          <a:lstStyle/>
          <a:p>
            <a:r>
              <a:rPr lang="en-US" sz="3600" dirty="0"/>
              <a:t>Cost Comparison between 3 Approaches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A664702-974D-239D-6B4F-D2BFCF4CA8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4680765"/>
              </p:ext>
            </p:extLst>
          </p:nvPr>
        </p:nvGraphicFramePr>
        <p:xfrm>
          <a:off x="1527978" y="1711046"/>
          <a:ext cx="8217272" cy="4515983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1173896">
                  <a:extLst>
                    <a:ext uri="{9D8B030D-6E8A-4147-A177-3AD203B41FA5}">
                      <a16:colId xmlns:a16="http://schemas.microsoft.com/office/drawing/2014/main" val="2729271643"/>
                    </a:ext>
                  </a:extLst>
                </a:gridCol>
                <a:gridCol w="1173896">
                  <a:extLst>
                    <a:ext uri="{9D8B030D-6E8A-4147-A177-3AD203B41FA5}">
                      <a16:colId xmlns:a16="http://schemas.microsoft.com/office/drawing/2014/main" val="1147494118"/>
                    </a:ext>
                  </a:extLst>
                </a:gridCol>
                <a:gridCol w="1173896">
                  <a:extLst>
                    <a:ext uri="{9D8B030D-6E8A-4147-A177-3AD203B41FA5}">
                      <a16:colId xmlns:a16="http://schemas.microsoft.com/office/drawing/2014/main" val="3927140704"/>
                    </a:ext>
                  </a:extLst>
                </a:gridCol>
                <a:gridCol w="1173896">
                  <a:extLst>
                    <a:ext uri="{9D8B030D-6E8A-4147-A177-3AD203B41FA5}">
                      <a16:colId xmlns:a16="http://schemas.microsoft.com/office/drawing/2014/main" val="3545910869"/>
                    </a:ext>
                  </a:extLst>
                </a:gridCol>
                <a:gridCol w="1173896">
                  <a:extLst>
                    <a:ext uri="{9D8B030D-6E8A-4147-A177-3AD203B41FA5}">
                      <a16:colId xmlns:a16="http://schemas.microsoft.com/office/drawing/2014/main" val="2837338000"/>
                    </a:ext>
                  </a:extLst>
                </a:gridCol>
                <a:gridCol w="1173896">
                  <a:extLst>
                    <a:ext uri="{9D8B030D-6E8A-4147-A177-3AD203B41FA5}">
                      <a16:colId xmlns:a16="http://schemas.microsoft.com/office/drawing/2014/main" val="595684804"/>
                    </a:ext>
                  </a:extLst>
                </a:gridCol>
                <a:gridCol w="1173896">
                  <a:extLst>
                    <a:ext uri="{9D8B030D-6E8A-4147-A177-3AD203B41FA5}">
                      <a16:colId xmlns:a16="http://schemas.microsoft.com/office/drawing/2014/main" val="3079160022"/>
                    </a:ext>
                  </a:extLst>
                </a:gridCol>
              </a:tblGrid>
              <a:tr h="708078">
                <a:tc>
                  <a:txBody>
                    <a:bodyPr/>
                    <a:lstStyle/>
                    <a:p>
                      <a:r>
                        <a:rPr lang="en-US" sz="1200" dirty="0"/>
                        <a:t>Approach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Tech Stack Used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Infra Needed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Per-Use Cost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Scaling Cost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Time to Process (6K rows)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Suitable For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1160479503"/>
                  </a:ext>
                </a:extLst>
              </a:tr>
              <a:tr h="1137552">
                <a:tc>
                  <a:txBody>
                    <a:bodyPr/>
                    <a:lstStyle/>
                    <a:p>
                      <a:r>
                        <a:rPr lang="en-US" sz="1200" b="1" dirty="0"/>
                        <a:t>Rule-Based</a:t>
                      </a:r>
                      <a:endParaRPr lang="en-US" sz="1200" dirty="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Python (pandas, re, </a:t>
                      </a:r>
                      <a:r>
                        <a:rPr lang="en-US" sz="1200" dirty="0" err="1"/>
                        <a:t>openpyxl</a:t>
                      </a:r>
                      <a:r>
                        <a:rPr lang="en-US" sz="1200" dirty="0"/>
                        <a:t>)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Local CPU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Free</a:t>
                      </a:r>
                      <a:endParaRPr lang="en-US" sz="120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Free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Seconds–few mins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Deterministic validations (blank fields, regex, length checks)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211409294"/>
                  </a:ext>
                </a:extLst>
              </a:tr>
              <a:tr h="1518681">
                <a:tc>
                  <a:txBody>
                    <a:bodyPr/>
                    <a:lstStyle/>
                    <a:p>
                      <a:r>
                        <a:rPr lang="en-US" sz="1200" b="1" dirty="0"/>
                        <a:t>ML (Classical)</a:t>
                      </a:r>
                      <a:endParaRPr lang="en-US" sz="1200" dirty="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Python (pandas, re, </a:t>
                      </a:r>
                      <a:r>
                        <a:rPr lang="en-US" sz="1200" dirty="0" err="1"/>
                        <a:t>openpyxl</a:t>
                      </a:r>
                      <a:r>
                        <a:rPr lang="en-US" sz="1200" dirty="0"/>
                        <a:t>)</a:t>
                      </a:r>
                    </a:p>
                    <a:p>
                      <a:endParaRPr lang="en-US" sz="1200" b="1" dirty="0"/>
                    </a:p>
                    <a:p>
                      <a:r>
                        <a:rPr lang="en-US" sz="1200" b="1" dirty="0"/>
                        <a:t>Random Forest (scikit-learn )</a:t>
                      </a:r>
                      <a:endParaRPr lang="en-US" sz="1200" dirty="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Local CPU or small cloud VM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Free (local)</a:t>
                      </a:r>
                      <a:r>
                        <a:rPr lang="en-US" sz="1200" dirty="0"/>
                        <a:t> / Low (cloud)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Low (batch jobs)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Few mins for 6K rows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Pattern detection, anomaly detection, probabilistic classification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531499781"/>
                  </a:ext>
                </a:extLst>
              </a:tr>
              <a:tr h="1137552">
                <a:tc>
                  <a:txBody>
                    <a:bodyPr/>
                    <a:lstStyle/>
                    <a:p>
                      <a:r>
                        <a:rPr lang="en-US" sz="1200" b="1" dirty="0"/>
                        <a:t>LLM-Based</a:t>
                      </a:r>
                      <a:endParaRPr lang="en-US" sz="1200" dirty="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Python (pandas, re, </a:t>
                      </a:r>
                      <a:r>
                        <a:rPr lang="en-US" sz="1200" dirty="0" err="1"/>
                        <a:t>openpyxl</a:t>
                      </a:r>
                      <a:r>
                        <a:rPr lang="en-US" sz="1200" dirty="0"/>
                        <a:t>)</a:t>
                      </a:r>
                    </a:p>
                    <a:p>
                      <a:endParaRPr lang="en-US" sz="1200" b="1" dirty="0"/>
                    </a:p>
                    <a:p>
                      <a:r>
                        <a:rPr lang="en-US" sz="1200" b="1" dirty="0" err="1"/>
                        <a:t>Groq</a:t>
                      </a:r>
                      <a:r>
                        <a:rPr lang="en-US" sz="1200" b="1" dirty="0"/>
                        <a:t> (</a:t>
                      </a:r>
                      <a:r>
                        <a:rPr lang="en-US" sz="1200" b="1" dirty="0" err="1"/>
                        <a:t>LLaMA</a:t>
                      </a:r>
                      <a:r>
                        <a:rPr lang="en-US" sz="1200" b="1" dirty="0"/>
                        <a:t>/Qwen)</a:t>
                      </a:r>
                      <a:endParaRPr lang="en-US" sz="1200" dirty="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Groq API (GPU infra)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Medium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Medium–High (depends on rows * tokens)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10–20 min for 6K rows (rate-limits apply)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Fuzzy rules, reasoning, context-based validation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1716138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9377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E317F-2386-2AF9-1C53-424AAF083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945FB-AF2E-84F8-9E2D-021824790D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4143" y="0"/>
            <a:ext cx="9144000" cy="869723"/>
          </a:xfrm>
        </p:spPr>
        <p:txBody>
          <a:bodyPr>
            <a:normAutofit/>
          </a:bodyPr>
          <a:lstStyle/>
          <a:p>
            <a:r>
              <a:rPr lang="en-US" sz="2800" dirty="0"/>
              <a:t>🧾 Cost &amp; Performance Comparison Table (w/ Sample Pricing)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D9C5BC8-712D-FA72-8B9D-0B44FA2773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678261"/>
              </p:ext>
            </p:extLst>
          </p:nvPr>
        </p:nvGraphicFramePr>
        <p:xfrm>
          <a:off x="1202872" y="869723"/>
          <a:ext cx="9786256" cy="5850726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1223282">
                  <a:extLst>
                    <a:ext uri="{9D8B030D-6E8A-4147-A177-3AD203B41FA5}">
                      <a16:colId xmlns:a16="http://schemas.microsoft.com/office/drawing/2014/main" val="2649398441"/>
                    </a:ext>
                  </a:extLst>
                </a:gridCol>
                <a:gridCol w="1223282">
                  <a:extLst>
                    <a:ext uri="{9D8B030D-6E8A-4147-A177-3AD203B41FA5}">
                      <a16:colId xmlns:a16="http://schemas.microsoft.com/office/drawing/2014/main" val="1659188562"/>
                    </a:ext>
                  </a:extLst>
                </a:gridCol>
                <a:gridCol w="1223282">
                  <a:extLst>
                    <a:ext uri="{9D8B030D-6E8A-4147-A177-3AD203B41FA5}">
                      <a16:colId xmlns:a16="http://schemas.microsoft.com/office/drawing/2014/main" val="557636739"/>
                    </a:ext>
                  </a:extLst>
                </a:gridCol>
                <a:gridCol w="1223282">
                  <a:extLst>
                    <a:ext uri="{9D8B030D-6E8A-4147-A177-3AD203B41FA5}">
                      <a16:colId xmlns:a16="http://schemas.microsoft.com/office/drawing/2014/main" val="802767456"/>
                    </a:ext>
                  </a:extLst>
                </a:gridCol>
                <a:gridCol w="1223282">
                  <a:extLst>
                    <a:ext uri="{9D8B030D-6E8A-4147-A177-3AD203B41FA5}">
                      <a16:colId xmlns:a16="http://schemas.microsoft.com/office/drawing/2014/main" val="776025931"/>
                    </a:ext>
                  </a:extLst>
                </a:gridCol>
                <a:gridCol w="1223282">
                  <a:extLst>
                    <a:ext uri="{9D8B030D-6E8A-4147-A177-3AD203B41FA5}">
                      <a16:colId xmlns:a16="http://schemas.microsoft.com/office/drawing/2014/main" val="3194780166"/>
                    </a:ext>
                  </a:extLst>
                </a:gridCol>
                <a:gridCol w="1223282">
                  <a:extLst>
                    <a:ext uri="{9D8B030D-6E8A-4147-A177-3AD203B41FA5}">
                      <a16:colId xmlns:a16="http://schemas.microsoft.com/office/drawing/2014/main" val="2850220210"/>
                    </a:ext>
                  </a:extLst>
                </a:gridCol>
                <a:gridCol w="1223282">
                  <a:extLst>
                    <a:ext uri="{9D8B030D-6E8A-4147-A177-3AD203B41FA5}">
                      <a16:colId xmlns:a16="http://schemas.microsoft.com/office/drawing/2014/main" val="939071237"/>
                    </a:ext>
                  </a:extLst>
                </a:gridCol>
              </a:tblGrid>
              <a:tr h="43108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B0F0"/>
                          </a:solidFill>
                        </a:rPr>
                        <a:t>Option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00B0F0"/>
                          </a:solidFill>
                        </a:rPr>
                        <a:t>Model / Provider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00B0F0"/>
                          </a:solidFill>
                        </a:rPr>
                        <a:t>Pricing (as of Aug 2025)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00B0F0"/>
                          </a:solidFill>
                        </a:rPr>
                        <a:t>Est. Cost per 1K Rows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00B0F0"/>
                          </a:solidFill>
                        </a:rPr>
                        <a:t>Speed (1K rows)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00B0F0"/>
                          </a:solidFill>
                        </a:rPr>
                        <a:t>Rate Limit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00B0F0"/>
                          </a:solidFill>
                        </a:rPr>
                        <a:t>Infra Required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B0F0"/>
                          </a:solidFill>
                        </a:rPr>
                        <a:t>Notes</a:t>
                      </a:r>
                    </a:p>
                  </a:txBody>
                  <a:tcPr marL="32473" marR="32473" marT="16236" marB="16236" anchor="ctr"/>
                </a:tc>
                <a:extLst>
                  <a:ext uri="{0D108BD9-81ED-4DB2-BD59-A6C34878D82A}">
                    <a16:rowId xmlns:a16="http://schemas.microsoft.com/office/drawing/2014/main" val="4229470880"/>
                  </a:ext>
                </a:extLst>
              </a:tr>
              <a:tr h="819050">
                <a:tc>
                  <a:txBody>
                    <a:bodyPr/>
                    <a:lstStyle/>
                    <a:p>
                      <a:r>
                        <a:rPr lang="en-US" sz="1200"/>
                        <a:t>🆓 </a:t>
                      </a:r>
                      <a:r>
                        <a:rPr lang="en-US" sz="1200" b="1"/>
                        <a:t>Free Public LLM (API)</a:t>
                      </a:r>
                      <a:endParaRPr lang="en-US" sz="1200"/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Groq + Mixtral / LLaMA 3</a:t>
                      </a:r>
                      <a:r>
                        <a:rPr lang="en-US" sz="1200"/>
                        <a:t> via Groq API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Free</a:t>
                      </a:r>
                      <a:r>
                        <a:rPr lang="en-US" sz="1200"/>
                        <a:t> (limited key)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$0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⏱️ ~10–15 min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✅ ~1000 req/min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❌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Free but rate-limited and can fail over 1K rows</a:t>
                      </a:r>
                    </a:p>
                  </a:txBody>
                  <a:tcPr marL="32473" marR="32473" marT="16236" marB="16236" anchor="ctr"/>
                </a:tc>
                <a:extLst>
                  <a:ext uri="{0D108BD9-81ED-4DB2-BD59-A6C34878D82A}">
                    <a16:rowId xmlns:a16="http://schemas.microsoft.com/office/drawing/2014/main" val="2180844487"/>
                  </a:ext>
                </a:extLst>
              </a:tr>
              <a:tr h="819050">
                <a:tc>
                  <a:txBody>
                    <a:bodyPr/>
                    <a:lstStyle/>
                    <a:p>
                      <a:r>
                        <a:rPr lang="en-US" sz="1200"/>
                        <a:t>💵 </a:t>
                      </a:r>
                      <a:r>
                        <a:rPr lang="en-US" sz="1200" b="1"/>
                        <a:t>OpenAI GPT-4 Turbo</a:t>
                      </a:r>
                      <a:endParaRPr lang="en-US" sz="1200"/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OpenAI API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$0.01 / 1K tokens (input)$0.03 / 1K tokens (output)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~$1–$1.5 / 1K rows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⚡ 5–10 min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✅ High (based on quota)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❌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High reliability, global support</a:t>
                      </a:r>
                    </a:p>
                  </a:txBody>
                  <a:tcPr marL="32473" marR="32473" marT="16236" marB="16236" anchor="ctr"/>
                </a:tc>
                <a:extLst>
                  <a:ext uri="{0D108BD9-81ED-4DB2-BD59-A6C34878D82A}">
                    <a16:rowId xmlns:a16="http://schemas.microsoft.com/office/drawing/2014/main" val="47839350"/>
                  </a:ext>
                </a:extLst>
              </a:tr>
              <a:tr h="819050">
                <a:tc>
                  <a:txBody>
                    <a:bodyPr/>
                    <a:lstStyle/>
                    <a:p>
                      <a:r>
                        <a:rPr lang="en-US" sz="1200"/>
                        <a:t>💵 </a:t>
                      </a:r>
                      <a:r>
                        <a:rPr lang="en-US" sz="1200" b="1"/>
                        <a:t>Anthropic Claude 3</a:t>
                      </a:r>
                      <a:endParaRPr lang="en-US" sz="1200"/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Anthropic API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nb-NO" sz="1200"/>
                        <a:t>$0.008 / 1K tokens (Haiku)$0.03 / 1K tokens (Sonnet)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~$0.7–$1.2 / 1K rows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⚡ Fast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✅ Yes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❌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Haiku is cheaper, great for validation logic</a:t>
                      </a:r>
                    </a:p>
                  </a:txBody>
                  <a:tcPr marL="32473" marR="32473" marT="16236" marB="16236" anchor="ctr"/>
                </a:tc>
                <a:extLst>
                  <a:ext uri="{0D108BD9-81ED-4DB2-BD59-A6C34878D82A}">
                    <a16:rowId xmlns:a16="http://schemas.microsoft.com/office/drawing/2014/main" val="3846176450"/>
                  </a:ext>
                </a:extLst>
              </a:tr>
              <a:tr h="819050">
                <a:tc>
                  <a:txBody>
                    <a:bodyPr/>
                    <a:lstStyle/>
                    <a:p>
                      <a:r>
                        <a:rPr lang="en-US" sz="1200"/>
                        <a:t>🧪 </a:t>
                      </a:r>
                      <a:r>
                        <a:rPr lang="en-US" sz="1200" b="1"/>
                        <a:t>Together.ai</a:t>
                      </a:r>
                      <a:endParaRPr lang="en-US" sz="1200"/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LLaMA-3, Qwen, Mistral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Free trial or Pay-as-you-go: ~$0.25–$0.50 / 1M tokens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~$0.2–$0.3 / 1K rows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⚡ Fast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✅ Higher quota than Groq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❌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Qwen 1.5 and LLaMA-3 available</a:t>
                      </a:r>
                    </a:p>
                  </a:txBody>
                  <a:tcPr marL="32473" marR="32473" marT="16236" marB="16236" anchor="ctr"/>
                </a:tc>
                <a:extLst>
                  <a:ext uri="{0D108BD9-81ED-4DB2-BD59-A6C34878D82A}">
                    <a16:rowId xmlns:a16="http://schemas.microsoft.com/office/drawing/2014/main" val="154562799"/>
                  </a:ext>
                </a:extLst>
              </a:tr>
              <a:tr h="689727">
                <a:tc>
                  <a:txBody>
                    <a:bodyPr/>
                    <a:lstStyle/>
                    <a:p>
                      <a:r>
                        <a:rPr lang="en-US" sz="1200"/>
                        <a:t>💻 </a:t>
                      </a:r>
                      <a:r>
                        <a:rPr lang="en-US" sz="1200" b="1"/>
                        <a:t>HuggingFace Inference Endpoint</a:t>
                      </a:r>
                      <a:endParaRPr lang="en-US" sz="1200"/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LLaMA 2, Mistral, Falcon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$0.06–$0.12 / minute (basic endpoint)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~$0.5–$1.0 / 1K rows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⚡ 3–8 min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✅ (via quota)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❌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Better suited for custom fine-tuned models</a:t>
                      </a:r>
                    </a:p>
                  </a:txBody>
                  <a:tcPr marL="32473" marR="32473" marT="16236" marB="16236" anchor="ctr"/>
                </a:tc>
                <a:extLst>
                  <a:ext uri="{0D108BD9-81ED-4DB2-BD59-A6C34878D82A}">
                    <a16:rowId xmlns:a16="http://schemas.microsoft.com/office/drawing/2014/main" val="301111294"/>
                  </a:ext>
                </a:extLst>
              </a:tr>
              <a:tr h="689727">
                <a:tc>
                  <a:txBody>
                    <a:bodyPr/>
                    <a:lstStyle/>
                    <a:p>
                      <a:r>
                        <a:rPr lang="en-US" sz="1200"/>
                        <a:t>🖥️ </a:t>
                      </a:r>
                      <a:r>
                        <a:rPr lang="en-US" sz="1200" b="1"/>
                        <a:t>Self-hosted (Local / GPU VM)</a:t>
                      </a:r>
                      <a:endParaRPr lang="en-US" sz="1200"/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Ollama, vLLM, LMDeploy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Free (after setup)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~$0.10 / 1K rows (infra only)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⚡⚡ Fast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🚫 Unlimited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✅ Yes (e.g., 1 x A10 GPU)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Best for large scale or recurring jobs</a:t>
                      </a:r>
                    </a:p>
                  </a:txBody>
                  <a:tcPr marL="32473" marR="32473" marT="16236" marB="16236" anchor="ctr"/>
                </a:tc>
                <a:extLst>
                  <a:ext uri="{0D108BD9-81ED-4DB2-BD59-A6C34878D82A}">
                    <a16:rowId xmlns:a16="http://schemas.microsoft.com/office/drawing/2014/main" val="1545776924"/>
                  </a:ext>
                </a:extLst>
              </a:tr>
              <a:tr h="689727">
                <a:tc>
                  <a:txBody>
                    <a:bodyPr/>
                    <a:lstStyle/>
                    <a:p>
                      <a:r>
                        <a:rPr lang="en-US" sz="1200"/>
                        <a:t>🧠 </a:t>
                      </a:r>
                      <a:r>
                        <a:rPr lang="en-US" sz="1200" b="1"/>
                        <a:t>RAG + Lightweight LLM</a:t>
                      </a:r>
                      <a:endParaRPr lang="en-US" sz="1200"/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Any + Vector DB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Open Source + ~$0.05 API (if used)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~$0.05 / 1K rows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⚡ Fast (uses search + LLM)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✅ Flexible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Optional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Very efficient for repeatable validation use cases</a:t>
                      </a:r>
                    </a:p>
                  </a:txBody>
                  <a:tcPr marL="32473" marR="32473" marT="16236" marB="16236" anchor="ctr"/>
                </a:tc>
                <a:extLst>
                  <a:ext uri="{0D108BD9-81ED-4DB2-BD59-A6C34878D82A}">
                    <a16:rowId xmlns:a16="http://schemas.microsoft.com/office/drawing/2014/main" val="33885937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50651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9060D-959F-E21E-9707-DF94ADA6A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BFEE5-3D34-84B4-17CD-9CA30B6278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4143" y="119743"/>
            <a:ext cx="9144000" cy="673780"/>
          </a:xfrm>
        </p:spPr>
        <p:txBody>
          <a:bodyPr>
            <a:normAutofit/>
          </a:bodyPr>
          <a:lstStyle/>
          <a:p>
            <a:r>
              <a:rPr lang="en-US" sz="2800" dirty="0"/>
              <a:t>📌 Recommendations with Pricing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7D436AB-865F-0F0C-624B-926C16885E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3584003"/>
              </p:ext>
            </p:extLst>
          </p:nvPr>
        </p:nvGraphicFramePr>
        <p:xfrm>
          <a:off x="827314" y="1236322"/>
          <a:ext cx="10439400" cy="4101672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2486355">
                  <a:extLst>
                    <a:ext uri="{9D8B030D-6E8A-4147-A177-3AD203B41FA5}">
                      <a16:colId xmlns:a16="http://schemas.microsoft.com/office/drawing/2014/main" val="482667653"/>
                    </a:ext>
                  </a:extLst>
                </a:gridCol>
                <a:gridCol w="2651015">
                  <a:extLst>
                    <a:ext uri="{9D8B030D-6E8A-4147-A177-3AD203B41FA5}">
                      <a16:colId xmlns:a16="http://schemas.microsoft.com/office/drawing/2014/main" val="3401172366"/>
                    </a:ext>
                  </a:extLst>
                </a:gridCol>
                <a:gridCol w="2651015">
                  <a:extLst>
                    <a:ext uri="{9D8B030D-6E8A-4147-A177-3AD203B41FA5}">
                      <a16:colId xmlns:a16="http://schemas.microsoft.com/office/drawing/2014/main" val="2571970641"/>
                    </a:ext>
                  </a:extLst>
                </a:gridCol>
                <a:gridCol w="2651015">
                  <a:extLst>
                    <a:ext uri="{9D8B030D-6E8A-4147-A177-3AD203B41FA5}">
                      <a16:colId xmlns:a16="http://schemas.microsoft.com/office/drawing/2014/main" val="2250169889"/>
                    </a:ext>
                  </a:extLst>
                </a:gridCol>
              </a:tblGrid>
              <a:tr h="630890">
                <a:tc>
                  <a:txBody>
                    <a:bodyPr/>
                    <a:lstStyle/>
                    <a:p>
                      <a:r>
                        <a:rPr lang="en-US" dirty="0"/>
                        <a:t>Use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Recommended 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Cost Range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Notes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2842338"/>
                  </a:ext>
                </a:extLst>
              </a:tr>
              <a:tr h="630890">
                <a:tc>
                  <a:txBody>
                    <a:bodyPr/>
                    <a:lstStyle/>
                    <a:p>
                      <a:r>
                        <a:rPr lang="en-US"/>
                        <a:t>✅ Prototyping (&lt;1K rows)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Free Groq API or Ollama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Free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Use Qwen/Mistral, skip cost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7090305"/>
                  </a:ext>
                </a:extLst>
              </a:tr>
              <a:tr h="901272">
                <a:tc>
                  <a:txBody>
                    <a:bodyPr/>
                    <a:lstStyle/>
                    <a:p>
                      <a:r>
                        <a:rPr lang="en-US"/>
                        <a:t>🚀 6K+ production records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Paid OpenAI GPT-4 Turbo or Together.ai (Qwen)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$4–$9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Use batching + parallelism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9792726"/>
                  </a:ext>
                </a:extLst>
              </a:tr>
              <a:tr h="630890">
                <a:tc>
                  <a:txBody>
                    <a:bodyPr/>
                    <a:lstStyle/>
                    <a:p>
                      <a:r>
                        <a:rPr lang="en-US"/>
                        <a:t>💰 Cost-efficient batch jobs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Claude 3 Haiku or Together.ai Qwen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$1–$3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High-speed + better quota than Groq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5149905"/>
                  </a:ext>
                </a:extLst>
              </a:tr>
              <a:tr h="630890">
                <a:tc>
                  <a:txBody>
                    <a:bodyPr/>
                    <a:lstStyle/>
                    <a:p>
                      <a:r>
                        <a:rPr lang="en-US"/>
                        <a:t>🧠 Offline + Rule-Based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Local Qwen / RAG + small LLM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Free–$0.50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Embed rules, reduce model load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9371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🏢 Long-term / recurring jobs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Self-hosted LLaMA or Mistral on GPU VM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~$0.5/hr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One-time setup, no per-call cost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61946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28506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4812C-E623-476D-9D2A-3AC2F45CD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💡 Tip: Time-to-Process Estimation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2E0AFA3-DA01-0303-F9A3-8BD98F066C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5807048"/>
              </p:ext>
            </p:extLst>
          </p:nvPr>
        </p:nvGraphicFramePr>
        <p:xfrm>
          <a:off x="838200" y="3452654"/>
          <a:ext cx="10515600" cy="1097280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11680746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90166373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13582038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689495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Batch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Time (Groq API)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Time (GPT-4 API)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Time (Self-hosted)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95109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1,000 rows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~10–15 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~5–8 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~3–5 min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77162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6,000 rows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~60–90 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~30–40 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~20–30 min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7392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62527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C886034-CFE4-EFFB-DA5A-1F6EF32A75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0912" y="438150"/>
            <a:ext cx="5210175" cy="598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3028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4B43008F-12A3-AE03-5E83-665A906CA1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6152" y="643466"/>
            <a:ext cx="5174906" cy="6160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275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0446996-267D-C3F2-8FEA-FA5C02A20F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2787" y="438150"/>
            <a:ext cx="5686425" cy="598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9385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FA6D0E-2F5A-E28B-8E89-D18AA350FEB2}"/>
              </a:ext>
            </a:extLst>
          </p:cNvPr>
          <p:cNvSpPr txBox="1"/>
          <p:nvPr/>
        </p:nvSpPr>
        <p:spPr>
          <a:xfrm>
            <a:off x="3927901" y="0"/>
            <a:ext cx="2880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UI Design using </a:t>
            </a:r>
            <a:r>
              <a:rPr lang="en-US" b="1" dirty="0" err="1"/>
              <a:t>Streamlit</a:t>
            </a: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C9C396-035D-3354-C4E4-4C43F36A0C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452" t="17563" r="38253" b="8268"/>
          <a:stretch>
            <a:fillRect/>
          </a:stretch>
        </p:blipFill>
        <p:spPr>
          <a:xfrm>
            <a:off x="3558911" y="369332"/>
            <a:ext cx="3715148" cy="6488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6160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33C7E8-C5BC-03DF-C7ED-8F2A23634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1D1174-A67C-1812-24A5-55B3343493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4000">
                <a:solidFill>
                  <a:schemeClr val="tx2"/>
                </a:solidFill>
              </a:rPr>
              <a:t>Thank You</a:t>
            </a:r>
          </a:p>
        </p:txBody>
      </p: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DF75F368-41AE-42BD-D293-18F0A5D40F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40902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3089</TotalTime>
  <Words>1222</Words>
  <Application>Microsoft Office PowerPoint</Application>
  <PresentationFormat>Widescreen</PresentationFormat>
  <Paragraphs>232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SAP Data migration  AI solution to check data quality </vt:lpstr>
      <vt:lpstr>📌  Context</vt:lpstr>
      <vt:lpstr>❗  Problem statement</vt:lpstr>
      <vt:lpstr>Objective</vt:lpstr>
      <vt:lpstr>Approach 1: 📘 Rule-Based Engine (Deterministic)</vt:lpstr>
      <vt:lpstr>Approach 2: 🤖 Machine Learning Classifier (Supervised Learning)</vt:lpstr>
      <vt:lpstr>Approach 3: 🧠 LLM-Based Validation (Groq)</vt:lpstr>
      <vt:lpstr>Comparison</vt:lpstr>
      <vt:lpstr>Cost Comparison between 3 Approaches</vt:lpstr>
      <vt:lpstr>🧾 Cost &amp; Performance Comparison Table (w/ Sample Pricing)</vt:lpstr>
      <vt:lpstr>📌 Recommendations with Pricing</vt:lpstr>
      <vt:lpstr>💡 Tip: Time-to-Process Estimation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Hiraman, Lochan</dc:creator>
  <cp:lastModifiedBy>Hiraman, Lochan</cp:lastModifiedBy>
  <cp:revision>2</cp:revision>
  <dcterms:created xsi:type="dcterms:W3CDTF">2025-08-04T08:38:29Z</dcterms:created>
  <dcterms:modified xsi:type="dcterms:W3CDTF">2025-11-19T09:11:33Z</dcterms:modified>
</cp:coreProperties>
</file>